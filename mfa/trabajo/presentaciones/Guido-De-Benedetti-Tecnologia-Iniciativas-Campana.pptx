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026cbfb4b4222" /><Relationship Type="http://schemas.openxmlformats.org/officeDocument/2006/relationships/extended-properties" Target="/docProps/app.xml" Id="R1bce902e34ec4aab" /><Relationship Type="http://schemas.openxmlformats.org/officeDocument/2006/relationships/officeDocument" Target="/ppt/presentation.xml" Id="Re5b127b0e4be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6c887465544e4"/>
  </p:sldMasterIdLst>
  <p:notesMasterIdLst>
    <p:notesMasterId xmlns:r="http://schemas.openxmlformats.org/officeDocument/2006/relationships" r:id="Rab6bec69466f4474"/>
  </p:notesMasterIdLst>
  <p:sldIdLst>
    <p:sldId xmlns:r="http://schemas.openxmlformats.org/officeDocument/2006/relationships" id="256" r:id="R218ed9527dc9437f"/>
    <p:sldId xmlns:r="http://schemas.openxmlformats.org/officeDocument/2006/relationships" id="257" r:id="R2f3787c5c4e149bf"/>
    <p:sldId xmlns:r="http://schemas.openxmlformats.org/officeDocument/2006/relationships" id="258" r:id="R8a0fe94e6782461b"/>
    <p:sldId xmlns:r="http://schemas.openxmlformats.org/officeDocument/2006/relationships" id="259" r:id="R97e948443c214efd"/>
    <p:sldId xmlns:r="http://schemas.openxmlformats.org/officeDocument/2006/relationships" id="260" r:id="R07b5a3342f724485"/>
    <p:sldId xmlns:r="http://schemas.openxmlformats.org/officeDocument/2006/relationships" id="261" r:id="R7415c88e1fc540e7"/>
    <p:sldId xmlns:r="http://schemas.openxmlformats.org/officeDocument/2006/relationships" id="262" r:id="Rce14e811f73c4197"/>
    <p:sldId xmlns:r="http://schemas.openxmlformats.org/officeDocument/2006/relationships" id="263" r:id="Rd720ff94e6b345dd"/>
    <p:sldId xmlns:r="http://schemas.openxmlformats.org/officeDocument/2006/relationships" id="264" r:id="R94281b3a4d594e19"/>
    <p:sldId xmlns:r="http://schemas.openxmlformats.org/officeDocument/2006/relationships" id="265" r:id="R9c32ec6cbb094e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40d95ef774dd1" /><Relationship Type="http://schemas.openxmlformats.org/officeDocument/2006/relationships/slideMaster" Target="/ppt/slideMasters/slideMaster1.xml" Id="R35c6c887465544e4" /><Relationship Type="http://schemas.openxmlformats.org/officeDocument/2006/relationships/notesMaster" Target="/ppt/notesMasters/notesMaster1.xml" Id="Rab6bec69466f4474" /><Relationship Type="http://schemas.openxmlformats.org/officeDocument/2006/relationships/presProps" Target="/ppt/presProps.xml" Id="R40a951e7af614333" /><Relationship Type="http://schemas.openxmlformats.org/officeDocument/2006/relationships/tableStyles" Target="/ppt/tableStyles.xml" Id="R607c9bf24b7545e3" /><Relationship Type="http://schemas.openxmlformats.org/officeDocument/2006/relationships/slide" Target="/ppt/slides/slide1.xml" Id="R218ed9527dc9437f" /><Relationship Type="http://schemas.openxmlformats.org/officeDocument/2006/relationships/slide" Target="/ppt/slides/slide2.xml" Id="R2f3787c5c4e149bf" /><Relationship Type="http://schemas.openxmlformats.org/officeDocument/2006/relationships/slide" Target="/ppt/slides/slide3.xml" Id="R8a0fe94e6782461b" /><Relationship Type="http://schemas.openxmlformats.org/officeDocument/2006/relationships/slide" Target="/ppt/slides/slide4.xml" Id="R97e948443c214efd" /><Relationship Type="http://schemas.openxmlformats.org/officeDocument/2006/relationships/slide" Target="/ppt/slides/slide5.xml" Id="R07b5a3342f724485" /><Relationship Type="http://schemas.openxmlformats.org/officeDocument/2006/relationships/slide" Target="/ppt/slides/slide6.xml" Id="R7415c88e1fc540e7" /><Relationship Type="http://schemas.openxmlformats.org/officeDocument/2006/relationships/slide" Target="/ppt/slides/slide7.xml" Id="Rce14e811f73c4197" /><Relationship Type="http://schemas.openxmlformats.org/officeDocument/2006/relationships/slide" Target="/ppt/slides/slide8.xml" Id="Rd720ff94e6b345dd" /><Relationship Type="http://schemas.openxmlformats.org/officeDocument/2006/relationships/slide" Target="/ppt/slides/slide9.xml" Id="R94281b3a4d594e19" /><Relationship Type="http://schemas.openxmlformats.org/officeDocument/2006/relationships/slide" Target="/ppt/slides/slide10.xml" Id="R9c32ec6cbb094e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a85abab7f46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9448ee85646ad" /><Relationship Type="http://schemas.openxmlformats.org/officeDocument/2006/relationships/notesMaster" Target="/ppt/notesMasters/notesMaster1.xml" Id="R54f5e3f077e4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dcb585a524575" /><Relationship Type="http://schemas.openxmlformats.org/officeDocument/2006/relationships/notesMaster" Target="/ppt/notesMasters/notesMaster1.xml" Id="R9fe96699feb34a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06fbdb1bd44179" /><Relationship Type="http://schemas.openxmlformats.org/officeDocument/2006/relationships/notesMaster" Target="/ppt/notesMasters/notesMaster1.xml" Id="R74cb97853186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b599df242448ab" /><Relationship Type="http://schemas.openxmlformats.org/officeDocument/2006/relationships/notesMaster" Target="/ppt/notesMasters/notesMaster1.xml" Id="R3e302190949141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6bcfbd9ba349a2" /><Relationship Type="http://schemas.openxmlformats.org/officeDocument/2006/relationships/notesMaster" Target="/ppt/notesMasters/notesMaster1.xml" Id="R485852ae02a741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8560494074520" /><Relationship Type="http://schemas.openxmlformats.org/officeDocument/2006/relationships/notesMaster" Target="/ppt/notesMasters/notesMaster1.xml" Id="Rc25824f9de1e47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6a566f2094351" /><Relationship Type="http://schemas.openxmlformats.org/officeDocument/2006/relationships/notesMaster" Target="/ppt/notesMasters/notesMaster1.xml" Id="R6c7f8602186043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c5fab36e64a92" /><Relationship Type="http://schemas.openxmlformats.org/officeDocument/2006/relationships/notesMaster" Target="/ppt/notesMasters/notesMaster1.xml" Id="R22d652759630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41f9e48da84d1e" /><Relationship Type="http://schemas.openxmlformats.org/officeDocument/2006/relationships/notesMaster" Target="/ppt/notesMasters/notesMaster1.xml" Id="R5f51ae6f59b6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fdc4541b4e46ed" /><Relationship Type="http://schemas.openxmlformats.org/officeDocument/2006/relationships/notesMaster" Target="/ppt/notesMasters/notesMaster1.xml" Id="Rfc2a13b0936a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 incorporé a Ferro en Acción durante los últimos dos meses. La agrupación ya tiene más de un año de trabajo y equipos que desarrollan la actividad política, la comunicación, el vínculo con los socios y la presencia cotidiana en el club. Mi intención es sumar una capacidad específica desde la tecnología, la inteligencia artificial, la educación, la gestión y mi experiencia en política.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- /Users/guidodebenedetti/Documents/Ferro en Acción/ferro-en-accion-web/public/brand/MFA-manual-marca/Logos/logocrema.png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estos dos meses desarrollé la página web de Ferro en Acción y trabajé en la organización de documentación institucional. También realicé análisis sobre el Estatuto, la profesionalización, la plataforma, las redes sociales y otras agrupaciones. Utilicé tecnología e inteligencia artificial para procesar y relacionar información; los criterios y las propuestas forman parte de mi trabajo personal.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- /Users/guidodebenedetti/Documents/Ferro en Acción/ferro-en-accion-web/</a:t>
            </a:r>
          </a:p>
          <a:p xmlns:a="http://schemas.openxmlformats.org/drawingml/2006/main">
            <a:r>
              <a:t>- /Users/guidodebenedetti/Documents/Ferro en Acción/ferro-en-accion-web/public/brand/og-image.png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explica bien cómo entendemos a Ferro. El desafío es acompañar esa visión con pocos proyectos concretos: qué problema resuelven, cuál sería el primer paso y qué resultado se espera. No propongo presentar una lista interminable de promesas, sino una cartera para que la agrupación discuta y priorice.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/Users/guidodebenedetti/Documents/Ferro en Acción/mfa/plataforma-ferro-en-accion-v0.9.md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Propongo que cada prioridad tenga al menos un proyecto concreto que la represente. Estas iniciativas no son promesas cerradas ni decisiones tomadas: son propuestas para discutir. Cada proyecto debería poder explicarse en una página, con un problema, un primer paso, responsables posibles y un resultado esperable.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/Users/guidodebenedetti/Documents/Ferro en Acción/mfa/plataforma-ferro-en-accion-v0.9.md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iniciativas permiten empezar sin una transformación gigantesca. El tablero muestra avances; la Ventanilla Única ordena la atención; el plan de mantenimiento prioriza problemas cotidianos; el mapa de activos ayuda a generar recursos; y los relevamientos permiten conocer antes de cambiar. La lógica es empezar por acciones útiles, visibles y posibles.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/Users/guidodebenedetti/Documents/Ferro en Acción/archivo-club/estatuto/Analisis reformas/Propuesta-profesionalizacion-integral.md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propuesta combina resultados rápidos con una transformación gradual. Profesionalizar no significa reemplazar a los socios: la Comisión Directiva conduce y los equipos profesionales ayudan a ejecutar. El Plan Integral de Fútbol, el CIARF, OESTE y el Plan de Infraestructura requieren etapas, prioridades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/Users/guidodebenedetti/Documents/Ferro en Acción/archivo-club/estatuto/Analisis reformas/Propuesta-profesionalizacion-integral.md</a:t>
            </a:r>
          </a:p>
          <a:p xmlns:a="http://schemas.openxmlformats.org/drawingml/2006/main">
            <a:r>
              <a:t>- /Users/guidodebenedetti/Documents/Ferro en Acción/archivo-club/estatuto/Analisis reformas/Analisis-compatibilidad-profesionalizacion-MFA.md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OESTE es una idea para organizar gradualmente información y procesos. No propongo comenzar con una aplicación enorme. La primera etapa puede ordenar sistemas existentes, consolidar información y mejorar la atención al socio. Después podría crecer mediante módulos para socios, fútbol, deportes, educación, obras y transparencia.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ChatGPT web ‘Nombres para sistema Ferro’, proyecto Ferro en Acción, recuperada el 17 de agosto de 2026.</a:t>
            </a:r>
          </a:p>
          <a:p xmlns:a="http://schemas.openxmlformats.org/drawingml/2006/main">
            <a:r>
              <a:t>- /Users/guidodebenedetti/Documents/Ferro en Acción/archivo-club/estatuto/Analisis reformas/Propuesta-profesionalizacion-integral.md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agrupación ya cuenta con equipos de comunicación, marketing, política, territorio y socios. Desde Tecnología podemos ofrecer información, herramientas y sugerencias para potenciar ese trabajo. Conviene probar y medir desde ahora, y aumentar la intensidad durante el tramo final. Todo debe hacerse en coordinación con los responsables de cada área.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- /Users/guidodebenedetti/Documents/Ferro en Acción/mfa/comunicacion/redes-sociales/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Ferro en Acción tiene personas que conocen el club y desarrollaron experiencias concretas. Mi aporte puede ser ayudar a documentar, validar y comunicar esos casos. El futsal puede ser uno de ellos, luego de confirmar fechas, protagonistas y resultados. También podemos usar inteligencia artificial para simular entrevistas, debates, preguntas difíciles y respuestas de 30 o 90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- Los datos públicos sobre la gestión del futsal deben validarse con sus protagonistas antes de comunicarse.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 propuesta es consolidar un Grupo de Tecnología que comience escuchando a las distintas áreas de Ferro en Acción. En paralelo, la agrupación puede seleccionar dos o tres iniciativas para desarrollar. No hace falta aprobar hoy una transformación completa: podemos elegir proyectos pequeños, mostrar resultados y aprender. Mi intención es sumar tecnología, educación, inteligencia artificial y experiencia política para potenciar un trabajo colectivo.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Conversación de trabajo con Guido de Benedetti, 17 de agosto de 2026.</a:t>
            </a:r>
          </a:p>
          <a:p xmlns:a="http://schemas.openxmlformats.org/drawingml/2006/main">
            <a:r>
              <a:t>- /Users/guidodebenedetti/Documents/Ferro en Acción/ferro-en-accion-web/public/brand/MFA-manual-marca/Logos/logocrema.png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3aba510dd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040aafd9a344f5" /><Relationship Type="http://schemas.openxmlformats.org/officeDocument/2006/relationships/slideLayout" Target="/ppt/slideLayouts/slideLayout1.xml" Id="Rdf03cdce9c13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3cdce9c13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3f09a08f64f45" /><Relationship Type="http://schemas.openxmlformats.org/officeDocument/2006/relationships/image" Target="/ppt/media/image.png" Id="R96caf96d657a4d9c" /><Relationship Type="http://schemas.openxmlformats.org/officeDocument/2006/relationships/notesSlide" Target="/ppt/notesSlides/notesSlide1.xml" Id="R304131473bfa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1e21d53394aab" /><Relationship Type="http://schemas.openxmlformats.org/officeDocument/2006/relationships/image" Target="/ppt/media/image2.png" Id="R7729d368b3dc4dbb" /><Relationship Type="http://schemas.openxmlformats.org/officeDocument/2006/relationships/image" Target="/ppt/media/image3.png" Id="R97d01f2dab5641c4" /><Relationship Type="http://schemas.openxmlformats.org/officeDocument/2006/relationships/notesSlide" Target="/ppt/notesSlides/notesSlide2.xml" Id="R2a4740df2d014f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de71f9c964b12" /><Relationship Type="http://schemas.openxmlformats.org/officeDocument/2006/relationships/image" Target="/ppt/media/image4.png" Id="R37de78238a6b414c" /><Relationship Type="http://schemas.openxmlformats.org/officeDocument/2006/relationships/notesSlide" Target="/ppt/notesSlides/notesSlide3.xml" Id="Rd6f54d01f0ce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3e7d0a3249bc" /><Relationship Type="http://schemas.openxmlformats.org/officeDocument/2006/relationships/image" Target="/ppt/media/image5.png" Id="Rba874a22b5ba41dd" /><Relationship Type="http://schemas.openxmlformats.org/officeDocument/2006/relationships/notesSlide" Target="/ppt/notesSlides/notesSlide4.xml" Id="R65063bbe6aff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63abd3184e95" /><Relationship Type="http://schemas.openxmlformats.org/officeDocument/2006/relationships/image" Target="/ppt/media/image6.png" Id="Raa137d8f33e64606" /><Relationship Type="http://schemas.openxmlformats.org/officeDocument/2006/relationships/notesSlide" Target="/ppt/notesSlides/notesSlide5.xml" Id="R46ae20f5c78d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86548979245a2" /><Relationship Type="http://schemas.openxmlformats.org/officeDocument/2006/relationships/image" Target="/ppt/media/image7.png" Id="R321bc9aa067842da" /><Relationship Type="http://schemas.openxmlformats.org/officeDocument/2006/relationships/notesSlide" Target="/ppt/notesSlides/notesSlide6.xml" Id="Re16400d679c2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7d7980a2c4ca2" /><Relationship Type="http://schemas.openxmlformats.org/officeDocument/2006/relationships/image" Target="/ppt/media/image8.png" Id="Rb81eec5b8768412c" /><Relationship Type="http://schemas.openxmlformats.org/officeDocument/2006/relationships/notesSlide" Target="/ppt/notesSlides/notesSlide7.xml" Id="Re56162d6826549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d41c2ba1c4d96" /><Relationship Type="http://schemas.openxmlformats.org/officeDocument/2006/relationships/image" Target="/ppt/media/image9.png" Id="R72c4fb214ee747df" /><Relationship Type="http://schemas.openxmlformats.org/officeDocument/2006/relationships/notesSlide" Target="/ppt/notesSlides/notesSlide8.xml" Id="Rd4d75bc4aa484c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c6f7cb4614bd5" /><Relationship Type="http://schemas.openxmlformats.org/officeDocument/2006/relationships/image" Target="/ppt/media/image10.png" Id="Rc554a8c5697f4eff" /><Relationship Type="http://schemas.openxmlformats.org/officeDocument/2006/relationships/notesSlide" Target="/ppt/notesSlides/notesSlide9.xml" Id="R19c2a6b9f43f4e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013c6f1b0464a" /><Relationship Type="http://schemas.openxmlformats.org/officeDocument/2006/relationships/image" Target="/ppt/media/image11.png" Id="R53b5dcf9c39d42e9" /><Relationship Type="http://schemas.openxmlformats.org/officeDocument/2006/relationships/notesSlide" Target="/ppt/notesSlides/notesSlide10.xml" Id="Rdafca8c3a6de4f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B042F-BD98-49F9-82CE-C888917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3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8AAB5-C206-45BE-92AE-18E5348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af96d657a4d9c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777EB-31E9-4008-863E-A7EF250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9D69B"/>
                </a:solidFill>
              </a:defRPr>
            </a:pPr>
            <a:r>
              <a:rPr sz="1125" b="1" i="0">
                <a:solidFill>
                  <a:srgbClr val="E9D69B"/>
                </a:solidFill>
              </a:rPr>
              <a:t>TECNOLOGÍA · INICIATIVAS · CAMPAÑA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2254B-4E3E-43D8-A04A-8CF0E22F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AF0"/>
                </a:solidFill>
              </a:defRPr>
            </a:pPr>
            <a:r>
              <a:rPr sz="4650" b="1" i="0">
                <a:solidFill>
                  <a:srgbClr val="FFFAF0"/>
                </a:solidFill>
              </a:rPr>
              <a:t>Tecnología al servicio</a:t>
            </a:r>
          </a:p>
          <a:p xmlns:a="http://schemas.openxmlformats.org/drawingml/2006/main">
            <a:pPr algn="l">
              <a:defRPr sz="4650" b="1" i="0">
                <a:solidFill>
                  <a:srgbClr val="FFFAF0"/>
                </a:solidFill>
              </a:defRPr>
            </a:pPr>
            <a:r>
              <a:rPr sz="4650" b="1" i="0">
                <a:solidFill>
                  <a:srgbClr val="FFFAF0"/>
                </a:solidFill>
              </a:rPr>
              <a:t>de un proyecto colectivo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5B868-F6C4-4D06-AE13-5EA8B906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AF0">
                    <a:alpha val="84706"/>
                  </a:srgbClr>
                </a:solidFill>
              </a:defRPr>
            </a:pPr>
            <a:r>
              <a:rPr sz="1875" b="0" i="0">
                <a:solidFill>
                  <a:srgbClr val="FFFAF0">
                    <a:alpha val="84706"/>
                  </a:srgbClr>
                </a:solidFill>
              </a:rPr>
              <a:t>Aporte de Guido de Benedetti a Movimiento Ferro en Acción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FAEAA-5CA1-4B29-BFC4-57335B7D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D69B"/>
                </a:solidFill>
              </a:defRPr>
            </a:pPr>
            <a:r>
              <a:rPr sz="1500" b="1" i="0">
                <a:solidFill>
                  <a:srgbClr val="E9D69B"/>
                </a:solidFill>
              </a:rPr>
              <a:t>Tecnología · Inteligencia artificial · Educación · Gestión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46E91-B7BD-4C48-AAB2-090512AE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AF0">
                    <a:alpha val="60000"/>
                  </a:srgbClr>
                </a:solidFill>
              </a:defRPr>
            </a:pPr>
            <a:r>
              <a:rPr sz="1200" b="0" i="0">
                <a:solidFill>
                  <a:srgbClr val="FFFAF0">
                    <a:alpha val="60000"/>
                  </a:srgbClr>
                </a:solidFill>
              </a:rPr>
              <a:t>Agosto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A47FA-F907-4354-BFF3-6B622F0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638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4387E-1A89-4418-9AA9-4521BB8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9115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C0CC5-0296-495E-AE3E-34CA01E5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91150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3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7896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B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00936-571C-4DE1-91EF-A1DDF2BD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B4DDE-1055-4520-B95D-D05DE61E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9d368b3dc4dbb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17385-4637-4012-AA42-89037ED6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TRABAJO REALIZADO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EE6AE-B102-4E7F-B55F-3E6912D5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AF126-D6B6-47B0-90CC-F085594A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685E9-6264-444B-8C24-AF4FAEED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535DF-5D87-4BDE-BAF3-B86E22E3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EFC7B-00C5-4407-91FB-3F49CBD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806AB-47DE-439E-9E59-EB3A1F6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4D7F1-5175-489A-AA24-2CCBC04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Qué hice desde mi incorporación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4A25E-B231-4485-BF29-53E85A35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8CA20-4749-44EC-B519-7C68D0E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Desarrollé la nueva página web.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5482-1098-4A46-A9EC-C79A42C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B4032-B359-4E62-A3BE-400963E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Organicé documentación del club.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2CFD4-D761-4CED-AB3C-A4B9A708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BB467-CF73-4950-A9E3-21086458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Analicé Estatuto y profesionalización.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56796-2343-45CE-99CE-B9A6224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29931-A36E-48BC-97CE-2FA371E7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Estudié la plataforma de MFA.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3235B-1359-4B3E-B6E2-E631A63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D2F5C-DCC6-47C7-A0CB-F20E1F5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Analicé redes y otras agrupaciones.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03B4F-63E5-4908-806A-F2FA8FA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ACF3E-6F32-42CC-A34E-FCE99618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5133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Elaboré propuestas de gestión y tecnología.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7CD72-4F72-442F-AB20-B3DA478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48200" cy="2914650"/>
          </a:xfrm>
          <a:prstGeom xmlns:a="http://schemas.openxmlformats.org/drawingml/2006/main" prst="roundRect">
            <a:avLst>
              <a:gd name="adj" fmla="val 719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D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01f2dab5641c4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09800"/>
            <a:ext cx="4267200" cy="24003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11ADF-B761-40E2-865B-FDB882C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572D"/>
                </a:solidFill>
              </a:defRPr>
            </a:pPr>
            <a:r>
              <a:rPr sz="1350" b="1" i="0">
                <a:solidFill>
                  <a:srgbClr val="18572D"/>
                </a:solidFill>
              </a:rPr>
              <a:t>Web + dominio + contenidos + medición</a:t>
            </a:r>
          </a:p>
        </p:txBody>
      </p:sp>
    </p:spTree>
    <p:extLst>
      <p:ext uri="{BB962C8B-B14F-4D97-AF65-F5344CB8AC3E}">
        <p14:creationId xmlns:p14="http://schemas.microsoft.com/office/powerpoint/2010/main" val="2026956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FD591-7DA7-482E-AB48-BC595221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6487-B932-47E0-975E-275B07B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e78238a6b414c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5693D-B31A-4C20-A24C-00478742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HALLAZGO PRINCIPAL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98E9B-6552-49B7-BBAB-8A050EED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C8D4E-4440-4FB9-B8EE-0811385F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FC3C5-A6A0-41DA-8C38-205EF01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53394-33BE-4C20-8EB8-7AB322F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778DB-E5A5-4E2F-89B2-D10D66D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9EE3E-C4EB-4CFB-A13F-E7264724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3EB13-E372-43C4-BB1A-EC04C6D7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La visión necesita iniciativas concretas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19609-4299-4F9A-B022-FE056434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8572D"/>
                </a:solidFill>
              </a:defRPr>
            </a:pPr>
            <a:r>
              <a:rPr sz="4350" b="1" i="0">
                <a:solidFill>
                  <a:srgbClr val="18572D"/>
                </a:solidFill>
              </a:rPr>
              <a:t>“Ferro es un todo”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69DF4-AC97-4430-B08A-7F0F78A4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F2419"/>
                </a:solidFill>
              </a:defRPr>
            </a:pPr>
            <a:r>
              <a:rPr sz="2175" b="0" i="0">
                <a:solidFill>
                  <a:srgbClr val="0F2419"/>
                </a:solidFill>
              </a:rPr>
              <a:t>es una idea clara y potente.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200F6-A28D-43EB-B605-B40E88C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0301A-CA5F-4F60-B784-2AE6316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8178F-A11E-4636-B240-010BB5D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La plataforma tiene coherencia.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E9C9B-96C5-4A73-A02B-E0B2FA2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887FA-A0F2-4202-A58D-31303D9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La agrupación tiene experiencia real.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80EF9-094F-4526-AAB0-639D59E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32B66-0E64-4CB7-A7F2-7F7850D5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18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Cada eje necesita proyectos visibles.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F7EEE-D15B-4569-9C84-E4C47DD3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3086100" cy="2895600"/>
          </a:xfrm>
          <a:prstGeom xmlns:a="http://schemas.openxmlformats.org/drawingml/2006/main" prst="roundRect">
            <a:avLst>
              <a:gd name="adj" fmla="val 8553"/>
            </a:avLst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FD6D5-0722-4702-83CB-464BAC69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D69B"/>
                </a:solidFill>
              </a:defRPr>
            </a:pPr>
            <a:r>
              <a:rPr sz="1275" b="1" i="0">
                <a:solidFill>
                  <a:srgbClr val="E9D69B"/>
                </a:solidFill>
              </a:rPr>
              <a:t>VISIÓN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69700-35D5-442F-ADF6-7480A18E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B9483-55B3-42A7-B7C6-55104197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AF0"/>
                </a:solidFill>
              </a:defRPr>
            </a:pPr>
            <a:r>
              <a:rPr sz="1800" b="1" i="0">
                <a:solidFill>
                  <a:srgbClr val="FFFAF0"/>
                </a:solidFill>
              </a:rPr>
              <a:t>PROYECTOS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F1CE7-A1FE-49CD-AB18-3942752F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AF0">
                    <a:alpha val="80000"/>
                  </a:srgbClr>
                </a:solidFill>
              </a:rPr>
              <a:t>Resultados que se pueden mostrar</a:t>
            </a:r>
          </a:p>
        </p:txBody>
      </p:sp>
    </p:spTree>
    <p:extLst>
      <p:ext uri="{BB962C8B-B14F-4D97-AF65-F5344CB8AC3E}">
        <p14:creationId xmlns:p14="http://schemas.microsoft.com/office/powerpoint/2010/main" val="256371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2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3FA270-68FA-4FD2-B14E-CB021C7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3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74313-E926-4396-90FE-7C33D2A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74a22b5ba41dd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EA118-C3C8-4DE0-B3B9-EDEA4490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D69B"/>
                </a:solidFill>
              </a:defRPr>
            </a:pPr>
            <a:r>
              <a:rPr sz="1050" b="1" i="0">
                <a:solidFill>
                  <a:srgbClr val="E9D69B"/>
                </a:solidFill>
              </a:rPr>
              <a:t>INICIATIVAS 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34C1D-BBB6-4FC4-8C2A-987D613C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DBA4-6D93-4381-AC67-4E081885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1050" b="1" i="0">
                <a:solidFill>
                  <a:srgbClr val="E9D69B">
                    <a:alpha val="73333"/>
                  </a:srgbClr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F0FCA-C532-4F27-8610-A630825C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900" b="1" i="0">
                <a:solidFill>
                  <a:srgbClr val="E9D69B">
                    <a:alpha val="73333"/>
                  </a:srgbClr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16421-3067-4B7B-B258-D6F738B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ED3E-DDE0-4505-AB0E-79A0F63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163D4-4E8F-4074-9A83-558AA7EC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5C097-EC17-498A-AC88-B8151FD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AF0"/>
                </a:solidFill>
              </a:defRPr>
            </a:pPr>
            <a:r>
              <a:rPr sz="3450" b="1" i="0">
                <a:solidFill>
                  <a:srgbClr val="FFFAF0"/>
                </a:solidFill>
              </a:rPr>
              <a:t>Un proyecto para cada prioridad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C1C7B-FEA0-49FD-AAEC-324660C5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650" b="0" i="0">
                <a:solidFill>
                  <a:srgbClr val="FFFAF0">
                    <a:alpha val="80000"/>
                  </a:srgbClr>
                </a:solidFill>
              </a:rPr>
              <a:t>Propuestas de trabajo, no decisiones ya tomadas.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2C3C5-B6BE-4087-8166-4FB261D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D69B"/>
                </a:solidFill>
              </a:defRPr>
            </a:pPr>
            <a:r>
              <a:rPr sz="2025" b="1" i="0">
                <a:solidFill>
                  <a:srgbClr val="E9D69B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3C5EF-0667-47CF-91D8-9934ABF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AF0"/>
                </a:solidFill>
              </a:defRPr>
            </a:pPr>
            <a:r>
              <a:rPr sz="1875" b="1" i="0">
                <a:solidFill>
                  <a:srgbClr val="FFFAF0"/>
                </a:solidFill>
              </a:rPr>
              <a:t>Planificación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4E36-AEA9-4485-80BE-693C49BF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425" b="0" i="0">
                <a:solidFill>
                  <a:srgbClr val="FFFAF0">
                    <a:alpha val="80000"/>
                  </a:srgbClr>
                </a:solidFill>
              </a:rPr>
              <a:t>Proyectos e información abierta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50008-E3BE-4EE5-9C64-9AD73F0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FC4D3-F919-4499-BEE2-3F806E04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D69B"/>
                </a:solidFill>
              </a:defRPr>
            </a:pPr>
            <a:r>
              <a:rPr sz="2025" b="1" i="0">
                <a:solidFill>
                  <a:srgbClr val="E9D69B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675C1-BD57-4A39-92F0-34A60A1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76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AF0"/>
                </a:solidFill>
              </a:defRPr>
            </a:pPr>
            <a:r>
              <a:rPr sz="1875" b="1" i="0">
                <a:solidFill>
                  <a:srgbClr val="FFFAF0"/>
                </a:solidFill>
              </a:rPr>
              <a:t>Fútbol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46319-2E3C-4D2C-AF5A-CF3E62E5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425" b="0" i="0">
                <a:solidFill>
                  <a:srgbClr val="FFFAF0">
                    <a:alpha val="80000"/>
                  </a:srgbClr>
                </a:solidFill>
              </a:rPr>
              <a:t>Plan Integral y CIARF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95F7C-9922-4515-837C-120F274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29AAB-4EC6-41C7-8143-A1E819D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D69B"/>
                </a:solidFill>
              </a:defRPr>
            </a:pPr>
            <a:r>
              <a:rPr sz="2025" b="1" i="0">
                <a:solidFill>
                  <a:srgbClr val="E9D69B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FF1AD-BA30-49E8-B2E8-687FDCE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AF0"/>
                </a:solidFill>
              </a:defRPr>
            </a:pPr>
            <a:r>
              <a:rPr sz="1875" b="1" i="0">
                <a:solidFill>
                  <a:srgbClr val="FFFAF0"/>
                </a:solidFill>
              </a:rPr>
              <a:t>Patrimonio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EF9AF-A291-40C6-B1B7-367B7C2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425" b="0" i="0">
                <a:solidFill>
                  <a:srgbClr val="FFFAF0">
                    <a:alpha val="80000"/>
                  </a:srgbClr>
                </a:solidFill>
              </a:rPr>
              <a:t>Mantenimiento cotidiano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69B66-5B23-4C1C-A26E-18E59066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9F72A-4686-47E9-B40B-5B8BEEFE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D69B"/>
                </a:solidFill>
              </a:defRPr>
            </a:pPr>
            <a:r>
              <a:rPr sz="2025" b="1" i="0">
                <a:solidFill>
                  <a:srgbClr val="E9D69B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BD0B0-9A2A-4113-9EEC-88FD91D7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529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AF0"/>
                </a:solidFill>
              </a:defRPr>
            </a:pPr>
            <a:r>
              <a:rPr sz="1875" b="1" i="0">
                <a:solidFill>
                  <a:srgbClr val="FFFAF0"/>
                </a:solidFill>
              </a:rPr>
              <a:t>Economía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B204B-CBAA-42A6-9F80-EF27E311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719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425" b="0" i="0">
                <a:solidFill>
                  <a:srgbClr val="FFFAF0">
                    <a:alpha val="80000"/>
                  </a:srgbClr>
                </a:solidFill>
              </a:rPr>
              <a:t>Activos, sponsors e ingresos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804680-4C64-406D-8AD4-D44E8519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625DA-0044-4802-ADF7-D64B7FAF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9D69B"/>
                </a:solidFill>
              </a:defRPr>
            </a:pPr>
            <a:r>
              <a:rPr sz="2025" b="1" i="0">
                <a:solidFill>
                  <a:srgbClr val="E9D69B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12573-0B8E-4911-95E9-ADE6EC3E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AF0"/>
                </a:solidFill>
              </a:defRPr>
            </a:pPr>
            <a:r>
              <a:rPr sz="1875" b="1" i="0">
                <a:solidFill>
                  <a:srgbClr val="FFFAF0"/>
                </a:solidFill>
              </a:rPr>
              <a:t>Comunidad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F558E-39E4-4D7A-9DDF-4B876BE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101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AF0">
                    <a:alpha val="80000"/>
                  </a:srgbClr>
                </a:solidFill>
              </a:defRPr>
            </a:pPr>
            <a:r>
              <a:rPr sz="1425" b="0" i="0">
                <a:solidFill>
                  <a:srgbClr val="FFFAF0">
                    <a:alpha val="80000"/>
                  </a:srgbClr>
                </a:solidFill>
              </a:rPr>
              <a:t>Atención y participación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EC159-EA54-4400-8F3E-E3A17048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26667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121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B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CBB02-DB94-404B-B673-2483BDCE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4F96B-E5C6-42AA-8C40-2674E2EE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37d8f33e64606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0DD72-0F9B-44CF-8F61-3ACB29A8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CORTO PLAZO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2416C-8995-4F28-B109-82692995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C2755-FEAC-43DE-A7B5-6081680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E5796-78E5-43CD-B249-C0661F66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3A55A-4053-4DFB-8767-C3CD9226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450F3-2C98-4AA5-A82B-A825355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92708-64D9-4A13-BAE1-BA626E91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DE7D3-263A-4110-BFC9-A8DD8F51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Primeros 100 días: ordenar y mostrar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5047F-64CF-4A57-9DDC-3306FF1D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80799-12F1-43C1-8FFB-5197D04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Tablero de proyectos y 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AA5B2-B024-469C-9AE5-10D2190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A6A61-30B6-45F8-95ED-6DCDF7D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76A26-752F-4502-8496-4E680AAE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337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Ventanilla Única del Socio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28C2B-9B12-430F-8476-EC4A397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CCD57-B360-40FE-8B77-A4EBAD6E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2507E-279C-4316-82B5-B83FE65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Plan de mantenimiento cotidiano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AA62C-533E-4CAC-BD18-A2A9A96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D9AF9-83B9-4322-8200-CF6D58A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04E8A-0A25-48F1-9A5E-395A2AB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Mapa de activos e ingresos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F5267-C3B5-45E7-8AF4-A93A1FA7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978E6-B707-4F3E-9945-EFB2CDF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98553-DD28-4107-8ED8-A4F95FA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Procesos y responsabilidades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21B99-191F-4463-AA98-D8E960EF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A2B5B-D5E6-448D-AA6B-1E767C6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572D"/>
                </a:solidFill>
              </a:defRPr>
            </a:pPr>
            <a:r>
              <a:rPr sz="2250" b="1" i="0">
                <a:solidFill>
                  <a:srgbClr val="18572D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80F82B-156D-4ADF-981F-E17B8304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2419"/>
                </a:solidFill>
              </a:defRPr>
            </a:pPr>
            <a:r>
              <a:rPr sz="1725" b="1" i="0">
                <a:solidFill>
                  <a:srgbClr val="0F2419"/>
                </a:solidFill>
              </a:rPr>
              <a:t>Sistemas, datos y accesos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2CD7F5-B68F-4225-8FFD-78C2674B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244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A9A69-A2C8-4862-BC09-E9CBBE93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8572D"/>
                </a:solidFill>
              </a:defRPr>
            </a:pPr>
            <a:r>
              <a:rPr sz="1875" b="1" i="0">
                <a:solidFill>
                  <a:srgbClr val="18572D"/>
                </a:solidFill>
              </a:rPr>
              <a:t>Empezar por lo útil, visible y posible.</a:t>
            </a:r>
          </a:p>
        </p:txBody>
      </p:sp>
    </p:spTree>
    <p:extLst>
      <p:ext uri="{BB962C8B-B14F-4D97-AF65-F5344CB8AC3E}">
        <p14:creationId xmlns:p14="http://schemas.microsoft.com/office/powerpoint/2010/main" val="1766040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953EBE-B0A4-4F68-9FAD-4F003C62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91652-D6D2-4D79-8D49-38F0B3C6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bc9aa067842da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189DF-79A9-4768-A4B0-84F52846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HOJA DE RUTA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455F-B72F-4C69-B966-06574C2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0DFDA-9494-4B22-9988-D129E8E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6244F-7879-43C4-8EF9-1FDA1CAA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7AB4A-FD8F-45B5-83CD-63E5A020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5B2DD-ED77-4AD5-9987-7855694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F1120-4F6E-4EED-B5F2-711D8D30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DF431-AB01-452B-BB63-14124F2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Las iniciativas pueden crecer por etapas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3B161-899D-4542-8E82-C4324DE6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572D"/>
                </a:solidFill>
              </a:defRPr>
            </a:pPr>
            <a:r>
              <a:rPr sz="1200" b="1" i="0">
                <a:solidFill>
                  <a:srgbClr val="18572D"/>
                </a:solidFill>
              </a:rPr>
              <a:t>AHORA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B1991-6205-4F87-BE9C-2183688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1340-D340-43F4-8781-0A6B53A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E7973-1D20-4B14-999A-F83C679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Proyectos y tablero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0F91E-000C-40EF-B1B3-85D01BCB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1B866-768B-4C37-BF12-FE44E0A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Atención al socio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95A9B-F4A6-4A61-A712-58F568C2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7E794-6A27-42C0-BBBE-839DD4C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Ordenar sistemas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563AE-EBD8-49E2-93E8-4695121B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572D"/>
                </a:solidFill>
              </a:defRPr>
            </a:pPr>
            <a:r>
              <a:rPr sz="1200" b="1" i="0">
                <a:solidFill>
                  <a:srgbClr val="18572D"/>
                </a:solidFill>
              </a:rPr>
              <a:t>DESPUÉS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5AE9D-A22A-49A3-AEB3-452E6200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16663-CABB-4937-B501-2E3FBC3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AC2DB-3EE5-4EE9-9704-2FBF9A5C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Gestión profesional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B5082-C7E7-4A14-A36C-D837419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545BB-BAB8-43E2-9ACE-B4441F2D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Plan Integral de Fútbol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D51B02-9411-4B7D-8112-AACF92B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A22ED-C0A9-4B8F-A930-F8171589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38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CIARF por etapas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B164B-28E9-4306-B66B-D40C8B1E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2419"/>
                </a:solidFill>
              </a:defRPr>
            </a:pPr>
            <a:r>
              <a:rPr sz="1200" b="1" i="0">
                <a:solidFill>
                  <a:srgbClr val="0F2419"/>
                </a:solidFill>
              </a:rPr>
              <a:t>A FUTURO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85B8C-B0D0-4B2B-8862-BA3BC637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4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D747E-9A1C-499D-B9B9-19B146F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A0074-012A-4F71-A3DB-5140E949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OESTE integral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0E7190-CB86-422A-B77C-4F230B5D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850F8-6E82-4650-A636-59317E2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Plan de Infraestructura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48DBE-1306-45FA-8D8E-AE688FD2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CA227-028A-4829-A9A4-98C949B9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2170F"/>
                </a:solidFill>
              </a:defRPr>
            </a:pPr>
            <a:r>
              <a:rPr sz="1650" b="0" i="0">
                <a:solidFill>
                  <a:srgbClr val="12170F"/>
                </a:solidFill>
              </a:rPr>
              <a:t>Formación permanente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A5171-1367-4CA4-A565-0673177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036DC-6A62-4568-BBC3-A531B10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514E3-D71E-446A-8D93-667E1705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572D"/>
                </a:solidFill>
              </a:defRPr>
            </a:pPr>
            <a:r>
              <a:rPr sz="1800" b="1" i="0">
                <a:solidFill>
                  <a:srgbClr val="18572D"/>
                </a:solidFill>
              </a:rPr>
              <a:t>Cada etapa debe aprender de la anterior.</a:t>
            </a:r>
          </a:p>
        </p:txBody>
      </p:sp>
    </p:spTree>
    <p:extLst>
      <p:ext uri="{BB962C8B-B14F-4D97-AF65-F5344CB8AC3E}">
        <p14:creationId xmlns:p14="http://schemas.microsoft.com/office/powerpoint/2010/main" val="89087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5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F9DB3-3D12-479E-9E72-F05867C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3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7F8A9-8231-4ADB-AB92-A69739A8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eec5b8768412c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818D0-79CF-4B65-9E8F-182BC02E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D69B"/>
                </a:solidFill>
              </a:defRPr>
            </a:pPr>
            <a:r>
              <a:rPr sz="1050" b="1" i="0">
                <a:solidFill>
                  <a:srgbClr val="E9D69B"/>
                </a:solidFill>
              </a:rPr>
              <a:t>INICIATIVA TECNOLÓGICA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4045F-59AA-4570-9A7C-518C25E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6C8D4-4856-4287-B3FF-6E93F0C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1050" b="1" i="0">
                <a:solidFill>
                  <a:srgbClr val="E9D69B">
                    <a:alpha val="73333"/>
                  </a:srgbClr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18C37-066D-430A-AD8D-CF9157E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900" b="1" i="0">
                <a:solidFill>
                  <a:srgbClr val="E9D69B">
                    <a:alpha val="73333"/>
                  </a:srgbClr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5E3E7-B5B5-413E-AD5D-0BEF154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003C1-FC65-4BF2-AE6E-CA3B33B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84440-2FD5-4B2E-A7AC-0941E39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38A02-A69E-4BD9-AF68-BDCE4170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FFFAF0"/>
                </a:solidFill>
              </a:defRPr>
            </a:pPr>
            <a:r>
              <a:rPr sz="7200" b="1" i="0">
                <a:solidFill>
                  <a:srgbClr val="FFFAF0"/>
                </a:solidFill>
              </a:rPr>
              <a:t>OESTE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D2592-350B-4BF4-8058-AFCAF14D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8382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9D69B"/>
                </a:solidFill>
              </a:defRPr>
            </a:pPr>
            <a:r>
              <a:rPr sz="2325" b="1" i="0">
                <a:solidFill>
                  <a:srgbClr val="E9D69B"/>
                </a:solidFill>
              </a:rPr>
              <a:t>Organización del Ecosistema</a:t>
            </a:r>
          </a:p>
          <a:p xmlns:a="http://schemas.openxmlformats.org/drawingml/2006/main">
            <a:pPr algn="l">
              <a:defRPr sz="2325" b="1" i="0">
                <a:solidFill>
                  <a:srgbClr val="E9D69B"/>
                </a:solidFill>
              </a:defRPr>
            </a:pPr>
            <a:r>
              <a:rPr sz="2325" b="1" i="0">
                <a:solidFill>
                  <a:srgbClr val="E9D69B"/>
                </a:solidFill>
              </a:rPr>
              <a:t>Socio-Deportivo, Tecnológico y Educativo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DC651-8304-4DFF-A067-2A562B6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948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47657-6DBF-4C42-BE61-392B8A1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SOCIOS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926A0-E335-458D-B161-C37A5EE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A1896-0386-4C2A-BE1B-DE07C07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86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FÚTBOL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1BD48-447F-4947-80CA-C3E5AF17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F8187-AFE5-40D7-A44D-F80ECF9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DEPORTES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0DD67-736A-4AC4-BBE5-F1417DA9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67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E5FFD-2DE5-4182-8366-A62996D9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EDUCACIÓN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E328E-088D-4C08-A268-821244C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2B8BF-18AF-437E-B6CD-853E813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OBRAS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B7DED-3778-4ECC-B6E7-75D9C55C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3CBF4-FA2E-4872-AEAD-4CFA4B7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0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AF0"/>
                </a:solidFill>
              </a:defRPr>
            </a:pPr>
            <a:r>
              <a:rPr sz="1575" b="1" i="0">
                <a:solidFill>
                  <a:srgbClr val="FFFAF0"/>
                </a:solidFill>
              </a:rPr>
              <a:t>TRANSPARENCIA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7B0BC-8619-4EA6-9917-27A1CA23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91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1259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B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0B698-FEAA-4CC3-981C-85314C7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BC6D5-5697-40A3-8A6E-48F1DB33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4fb214ee747df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B3C6B-E98B-46BE-BF12-C73E503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APOYO A LA CAMPAÑA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650B7-0C99-4709-B139-6BF04CD4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7CD1F-CE4D-4BD8-AD21-3A4EA1C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CDBE-0FB4-4694-8C43-1EBFFFF9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011C9-255D-4BF4-94AC-711CAC11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68D02-F7F6-4B91-87ED-B54364F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51CC5-38C5-42F6-B76F-7AE54831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EE257-E065-41F7-9CCC-CFB2CA8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Tecnología para potenciar lo que ya se hace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8665C-EC31-4B34-B840-540F95D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572D"/>
                </a:solidFill>
              </a:defRPr>
            </a:pPr>
            <a:r>
              <a:rPr sz="1350" b="1" i="0">
                <a:solidFill>
                  <a:srgbClr val="18572D"/>
                </a:solidFill>
              </a:rPr>
              <a:t>AHORA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58924-E980-495B-AB4B-70213CB1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572D"/>
                </a:solidFill>
              </a:defRPr>
            </a:pPr>
            <a:r>
              <a:rPr sz="1350" b="1" i="0">
                <a:solidFill>
                  <a:srgbClr val="18572D"/>
                </a:solidFill>
              </a:rPr>
              <a:t>TRAMO FINAL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EEFB9-6C29-4106-B64E-A9ED618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762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CD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83A77-0CE4-4BE6-8535-BC9E4022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762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F24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6468F-4E44-4D5A-9684-2F727F8D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782A-DC8C-4CE0-BD5D-DE9576F0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99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Organizar información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C639A-6EA0-4288-B235-91183BC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D3FD6-EE9B-464A-9C64-E3980C0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Probar mensajes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18377-A422-48A2-BBC1-9AFA70D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3BEFD-08D9-479B-801C-9665A05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Analizar contenidos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C9750-1A6A-439B-AA91-FD28D16B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4DDC3-9F70-48B3-A0F4-EC013BFD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Preparar herramientas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A29DD-521A-4419-8AC0-0BF04E3D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011F9-370D-4166-BA69-E1A41829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AF0"/>
                </a:solidFill>
              </a:defRPr>
            </a:pPr>
            <a:r>
              <a:rPr sz="1575" b="0" i="0">
                <a:solidFill>
                  <a:srgbClr val="FFFAF0"/>
                </a:solidFill>
              </a:rPr>
              <a:t>Mayor intensidad digital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8EFA7-CE9C-4528-9BCC-ED4F631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D64C0-CE1E-495E-94BB-A36B93D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052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AF0"/>
                </a:solidFill>
              </a:defRPr>
            </a:pPr>
            <a:r>
              <a:rPr sz="1575" b="0" i="0">
                <a:solidFill>
                  <a:srgbClr val="FFFAF0"/>
                </a:solidFill>
              </a:rPr>
              <a:t>Presencia cotidiana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DC4E3E-79F2-423A-A004-24CDE1A9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5EDF4-EF3D-4682-8780-CD8F705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AF0"/>
                </a:solidFill>
              </a:defRPr>
            </a:pPr>
            <a:r>
              <a:rPr sz="1575" b="0" i="0">
                <a:solidFill>
                  <a:srgbClr val="FFFAF0"/>
                </a:solidFill>
              </a:rPr>
              <a:t>Mensaje fácil de recordar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6F85E-938A-4572-B638-69F4C0B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9E748-E6E9-42E7-ABEB-B8EC78EC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AF0"/>
                </a:solidFill>
              </a:defRPr>
            </a:pPr>
            <a:r>
              <a:rPr sz="1575" b="0" i="0">
                <a:solidFill>
                  <a:srgbClr val="FFFAF0"/>
                </a:solidFill>
              </a:rPr>
              <a:t>Movilización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23076-CEFB-4B4C-A3AD-BA32C64C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8572D"/>
                </a:solidFill>
              </a:defRPr>
            </a:pPr>
            <a:r>
              <a:rPr sz="1725" b="1" i="0">
                <a:solidFill>
                  <a:srgbClr val="18572D"/>
                </a:solidFill>
              </a:rPr>
              <a:t>Siempre en coordinación con los equipos responsables.</a:t>
            </a:r>
          </a:p>
        </p:txBody>
      </p:sp>
    </p:spTree>
    <p:extLst>
      <p:ext uri="{BB962C8B-B14F-4D97-AF65-F5344CB8AC3E}">
        <p14:creationId xmlns:p14="http://schemas.microsoft.com/office/powerpoint/2010/main" val="69124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B95F2-377D-4733-922E-4BA889FB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5DD8D-0C2B-4E19-8702-725F3E06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4a8c5697f4eff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C6AE7-5383-4474-AA18-0D0052BC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572D"/>
                </a:solidFill>
              </a:defRPr>
            </a:pPr>
            <a:r>
              <a:rPr sz="1050" b="1" i="0">
                <a:solidFill>
                  <a:srgbClr val="18572D"/>
                </a:solidFill>
              </a:rPr>
              <a:t>EXPERIENCIA Y PREPARACIÓN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B6CF3-9D92-4673-977F-74836A7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95C9D-6AA1-459F-91E9-E367DE8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A6255"/>
                </a:solidFill>
              </a:defRPr>
            </a:pPr>
            <a:r>
              <a:rPr sz="1050" b="1" i="0">
                <a:solidFill>
                  <a:srgbClr val="5A625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A67A0-3273-4192-B43C-046725D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6255"/>
                </a:solidFill>
              </a:defRPr>
            </a:pPr>
            <a:r>
              <a:rPr sz="900" b="1" i="0">
                <a:solidFill>
                  <a:srgbClr val="5A6255"/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0BE9B-B37C-4552-8089-D9597814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000A6-AAA1-43B2-B1C6-FAE740E3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66EAB-705C-4E34-8476-E1EC4E4D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F2156-98CB-4AA3-834B-9D03509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2419"/>
                </a:solidFill>
              </a:defRPr>
            </a:pPr>
            <a:r>
              <a:rPr sz="3450" b="1" i="0">
                <a:solidFill>
                  <a:srgbClr val="0F2419"/>
                </a:solidFill>
              </a:rPr>
              <a:t>Mostrar mejor un diferencial que ya existe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05BC4-8771-4D42-AF93-828A5603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334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8572D"/>
                </a:solidFill>
              </a:defRPr>
            </a:pPr>
            <a:r>
              <a:rPr sz="3150" b="1" i="0">
                <a:solidFill>
                  <a:srgbClr val="18572D"/>
                </a:solidFill>
              </a:rPr>
              <a:t>“Conocemos el club</a:t>
            </a:r>
          </a:p>
          <a:p xmlns:a="http://schemas.openxmlformats.org/drawingml/2006/main">
            <a:pPr algn="l">
              <a:defRPr sz="3150" b="1" i="0">
                <a:solidFill>
                  <a:srgbClr val="18572D"/>
                </a:solidFill>
              </a:defRPr>
            </a:pPr>
            <a:r>
              <a:rPr sz="3150" b="1" i="0">
                <a:solidFill>
                  <a:srgbClr val="18572D"/>
                </a:solidFill>
              </a:rPr>
              <a:t>y tenemos experiencia</a:t>
            </a:r>
          </a:p>
          <a:p xmlns:a="http://schemas.openxmlformats.org/drawingml/2006/main">
            <a:pPr algn="l">
              <a:defRPr sz="3150" b="1" i="0">
                <a:solidFill>
                  <a:srgbClr val="18572D"/>
                </a:solidFill>
              </a:defRPr>
            </a:pPr>
            <a:r>
              <a:rPr sz="3150" b="1" i="0">
                <a:solidFill>
                  <a:srgbClr val="18572D"/>
                </a:solidFill>
              </a:rPr>
              <a:t>para gestionarlo.”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2DD89-CCD4-4DE9-BB1D-AD686750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A6255"/>
                </a:solidFill>
              </a:defRPr>
            </a:pPr>
            <a:r>
              <a:rPr sz="1725" b="0" i="0">
                <a:solidFill>
                  <a:srgbClr val="5A6255"/>
                </a:solidFill>
              </a:rPr>
              <a:t>La tecnología puede ordenar y hacer visible esa experiencia.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64CF4-7717-4F19-B04E-8ADCC19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F6BA1-9FFD-4A55-9303-EBBAECC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9AC72-C9CE-40F7-A3E3-8709A738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Casos concretos de gestión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87AD1-E92E-4CF8-82A8-77B8FFD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71DCB-FD63-422E-B663-EABB10A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Datos y resultados validados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2895B-E6E0-4112-83AD-70EAAB81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D79AE-89EB-4404-BF42-7E58EFE4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Simulaciones de entrevistas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93543-6343-4E5F-A58D-6A1B8D1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C5150-E460-4958-94F8-066901B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Prácticas de debate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C23FB-9F9D-4899-8749-E37898EA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40A9D-9C55-451F-8CE2-ABF167FF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0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Preguntas y repreguntas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F0885-E84D-4BC1-BA0D-63A63DF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9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7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92A0A-E81D-4B8B-9C79-C6AB6ED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2170F"/>
                </a:solidFill>
              </a:defRPr>
            </a:pPr>
            <a:r>
              <a:rPr sz="1575" b="0" i="0">
                <a:solidFill>
                  <a:srgbClr val="12170F"/>
                </a:solidFill>
              </a:rPr>
              <a:t>Respuestas claras y breves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BF5EA-AB3A-4EFB-AF2A-1061772F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38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572D"/>
                </a:solidFill>
              </a:defRPr>
            </a:pPr>
            <a:r>
              <a:rPr sz="1350" b="1" i="0">
                <a:solidFill>
                  <a:srgbClr val="18572D"/>
                </a:solidFill>
              </a:rPr>
              <a:t>Ejemplo a documentar: la evolución del futsal.</a:t>
            </a:r>
          </a:p>
        </p:txBody>
      </p:sp>
    </p:spTree>
    <p:extLst>
      <p:ext uri="{BB962C8B-B14F-4D97-AF65-F5344CB8AC3E}">
        <p14:creationId xmlns:p14="http://schemas.microsoft.com/office/powerpoint/2010/main" val="155558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2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1E36AF-7782-4513-91CF-15602740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3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98593-90E5-47A6-B124-7E983DDD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5dcf9c39d42e9"/>
          <a:stretch xmlns:a="http://schemas.openxmlformats.org/drawingml/2006/main"/>
        </p:blipFill>
        <p:spPr>
          <a:xfrm xmlns:a="http://schemas.openxmlformats.org/drawingml/2006/main">
            <a:off x="10782300" y="269253"/>
            <a:ext cx="876300" cy="90929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9BDED-0FB6-4C1D-9437-64FF5D91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9D69B"/>
                </a:solidFill>
              </a:defRPr>
            </a:pPr>
            <a:r>
              <a:rPr sz="1050" b="1" i="0">
                <a:solidFill>
                  <a:srgbClr val="E9D69B"/>
                </a:solidFill>
              </a:rPr>
              <a:t>PROPUESTA PARA AVANZAR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25485-FE90-419C-8F06-0F57F5B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F4F47-831E-4A38-92A2-31A1F1C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1050" b="1" i="0">
                <a:solidFill>
                  <a:srgbClr val="E9D69B">
                    <a:alpha val="73333"/>
                  </a:srgbClr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81B8E-0620-41FF-AA74-0EDFAF1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D69B">
                    <a:alpha val="73333"/>
                  </a:srgbClr>
                </a:solidFill>
              </a:defRPr>
            </a:pPr>
            <a:r>
              <a:rPr sz="900" b="1" i="0">
                <a:solidFill>
                  <a:srgbClr val="E9D69B">
                    <a:alpha val="73333"/>
                  </a:srgbClr>
                </a:solidFill>
              </a:rPr>
              <a:t>FERRO ES UN TODO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26120-46A6-41DF-A7E4-18D7147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6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C1105-CBC1-4A20-A9F0-1D5C9039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5341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424D7-47AB-4592-B732-8D5DD618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5341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F6B10-9580-48CC-9346-84ACF0E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AF0"/>
                </a:solidFill>
              </a:defRPr>
            </a:pPr>
            <a:r>
              <a:rPr sz="3450" b="1" i="0">
                <a:solidFill>
                  <a:srgbClr val="FFFAF0"/>
                </a:solidFill>
              </a:rPr>
              <a:t>Escuchar. Elegir poco. Ejecutar bien.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51C05-3933-47E5-A43E-1DE60E5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9D69B"/>
                </a:solidFill>
              </a:defRPr>
            </a:pPr>
            <a:r>
              <a:rPr sz="1725" b="1" i="0">
                <a:solidFill>
                  <a:srgbClr val="E9D69B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49495-6493-45E5-B74A-D830571C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AF0"/>
                </a:solidFill>
              </a:defRPr>
            </a:pPr>
            <a:r>
              <a:rPr sz="1725" b="1" i="0">
                <a:solidFill>
                  <a:srgbClr val="FFFAF0"/>
                </a:solidFill>
              </a:rPr>
              <a:t>Escuchar a los equipos existentes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CCC1B-F0C7-44C4-85C6-1ED482CC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9D69B"/>
                </a:solidFill>
              </a:defRPr>
            </a:pPr>
            <a:r>
              <a:rPr sz="1725" b="1" i="0">
                <a:solidFill>
                  <a:srgbClr val="E9D69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DFE00-F5A5-4A14-AD60-F79AF02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AF0"/>
                </a:solidFill>
              </a:defRPr>
            </a:pPr>
            <a:r>
              <a:rPr sz="1725" b="1" i="0">
                <a:solidFill>
                  <a:srgbClr val="FFFAF0"/>
                </a:solidFill>
              </a:rPr>
              <a:t>Identificar necesidades concretas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494A8-9164-413D-8195-085E5762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9D69B"/>
                </a:solidFill>
              </a:defRPr>
            </a:pPr>
            <a:r>
              <a:rPr sz="1725" b="1" i="0">
                <a:solidFill>
                  <a:srgbClr val="E9D69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7FF3B-FE26-4FAD-B8AA-2843D4F5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AF0"/>
                </a:solidFill>
              </a:defRPr>
            </a:pPr>
            <a:r>
              <a:rPr sz="1725" b="1" i="0">
                <a:solidFill>
                  <a:srgbClr val="FFFAF0"/>
                </a:solidFill>
              </a:rPr>
              <a:t>Elegir dos o tres iniciativas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40C17-2262-413C-A919-92C288B6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9D69B"/>
                </a:solidFill>
              </a:defRPr>
            </a:pPr>
            <a:r>
              <a:rPr sz="1725" b="1" i="0">
                <a:solidFill>
                  <a:srgbClr val="E9D69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6D846-B482-4E23-8E83-68209A78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AF0"/>
                </a:solidFill>
              </a:defRPr>
            </a:pPr>
            <a:r>
              <a:rPr sz="1725" b="1" i="0">
                <a:solidFill>
                  <a:srgbClr val="FFFAF0"/>
                </a:solidFill>
              </a:rPr>
              <a:t>Preparar un primer resultado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6B995-F4D2-4B2C-8964-FB9B868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9D69B"/>
                </a:solidFill>
              </a:defRPr>
            </a:pPr>
            <a:r>
              <a:rPr sz="1725" b="1" i="0">
                <a:solidFill>
                  <a:srgbClr val="E9D69B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DCA80-54E0-4AFB-874A-8FE880E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AF0"/>
                </a:solidFill>
              </a:defRPr>
            </a:pPr>
            <a:r>
              <a:rPr sz="1725" b="1" i="0">
                <a:solidFill>
                  <a:srgbClr val="FFFAF0"/>
                </a:solidFill>
              </a:rPr>
              <a:t>Evaluar y continuar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685E8-3B41-4760-AE1F-D0A0C79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3867150" cy="2781300"/>
          </a:xfrm>
          <a:prstGeom xmlns:a="http://schemas.openxmlformats.org/drawingml/2006/main" prst="roundRect">
            <a:avLst>
              <a:gd name="adj" fmla="val 9589"/>
            </a:avLst>
          </a:prstGeom>
          <a:solidFill xmlns:a="http://schemas.openxmlformats.org/drawingml/2006/main">
            <a:srgbClr val="236237">
              <a:alpha val="66667"/>
            </a:srgbClr>
          </a:solidFill>
          <a:ln xmlns:a="http://schemas.openxmlformats.org/drawingml/2006/main" w="9525">
            <a:solidFill>
              <a:srgbClr val="E9D69B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89C6F-3BE0-4D9B-8E0B-1E14E24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9D69B"/>
                </a:solidFill>
              </a:defRPr>
            </a:pPr>
            <a:r>
              <a:rPr sz="1275" b="1" i="0">
                <a:solidFill>
                  <a:srgbClr val="E9D69B"/>
                </a:solidFill>
              </a:rPr>
              <a:t>GRUPO DE TECNOLOGÍA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5A271-3B60-4745-8E32-9F62F3A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FFFAF0"/>
                </a:solidFill>
              </a:defRPr>
            </a:pPr>
            <a:r>
              <a:rPr sz="2475" b="1" i="0">
                <a:solidFill>
                  <a:srgbClr val="FFFAF0"/>
                </a:solidFill>
              </a:rPr>
              <a:t>Escuchar, ayudar</a:t>
            </a:r>
          </a:p>
          <a:p xmlns:a="http://schemas.openxmlformats.org/drawingml/2006/main">
            <a:pPr algn="ctr">
              <a:defRPr sz="2475" b="1" i="0">
                <a:solidFill>
                  <a:srgbClr val="FFFAF0"/>
                </a:solidFill>
              </a:defRPr>
            </a:pPr>
            <a:r>
              <a:rPr sz="2475" b="1" i="0">
                <a:solidFill>
                  <a:srgbClr val="FFFAF0"/>
                </a:solidFill>
              </a:rPr>
              <a:t>y construir con</a:t>
            </a:r>
          </a:p>
          <a:p xmlns:a="http://schemas.openxmlformats.org/drawingml/2006/main">
            <a:pPr algn="ctr">
              <a:defRPr sz="2475" b="1" i="0">
                <a:solidFill>
                  <a:srgbClr val="FFFAF0"/>
                </a:solidFill>
              </a:defRPr>
            </a:pPr>
            <a:r>
              <a:rPr sz="2475" b="1" i="0">
                <a:solidFill>
                  <a:srgbClr val="FFFAF0"/>
                </a:solidFill>
              </a:rPr>
              <a:t>las demás áreas.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80CC7-9D1C-42A9-A48A-38D2F469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9D69B"/>
                </a:solidFill>
              </a:defRPr>
            </a:pPr>
            <a:r>
              <a:rPr sz="1350" b="0" i="0">
                <a:solidFill>
                  <a:srgbClr val="E9D69B"/>
                </a:solidFill>
              </a:rPr>
              <a:t>Tecnología al servicio de Ferro en Acción</a:t>
            </a:r>
          </a:p>
        </p:txBody>
      </p:sp>
    </p:spTree>
    <p:extLst>
      <p:ext uri="{BB962C8B-B14F-4D97-AF65-F5344CB8AC3E}">
        <p14:creationId xmlns:p14="http://schemas.microsoft.com/office/powerpoint/2010/main" val="1096907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2026-08-17T18:27:58.9140000Z</dcterms:created>
  <dcterms:modified xsi:type="dcterms:W3CDTF">2026-08-17T18:27:58.9140000Z</dcterms:modified>
</coreProperties>
</file>